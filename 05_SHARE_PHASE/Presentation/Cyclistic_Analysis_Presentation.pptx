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ricolage Grotesque" charset="1" panose="020B0605040402000204"/>
      <p:regular r:id="rId16"/>
    </p:embeddedFont>
    <p:embeddedFont>
      <p:font typeface="TAN Nimbus" charset="1" panose="000000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A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49342" y="2569093"/>
            <a:ext cx="7366921" cy="106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6259">
                <a:solidFill>
                  <a:srgbClr val="F1C40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Cyclistic Bike-Share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50075" y="3793375"/>
            <a:ext cx="117606" cy="57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TAN Nimbus"/>
                <a:ea typeface="TAN Nimbus"/>
                <a:cs typeface="TAN Nimbus"/>
                <a:sym typeface="TAN Nimbus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49342" y="3783850"/>
            <a:ext cx="9032870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Converting Casual Riders to Annual Members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3855" y="4546486"/>
            <a:ext cx="78400" cy="3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7">
                <a:solidFill>
                  <a:srgbClr val="FFFFFF"/>
                </a:solidFill>
                <a:latin typeface="TAN Nimbus"/>
                <a:ea typeface="TAN Nimbus"/>
                <a:cs typeface="TAN Nimbus"/>
                <a:sym typeface="TAN Nimbu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49342" y="4546486"/>
            <a:ext cx="7169107" cy="35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7">
                <a:solidFill>
                  <a:srgbClr val="FFFFFF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Executive Presentation &amp; Strategic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9342" y="5887243"/>
            <a:ext cx="2737179" cy="93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49">
                <a:solidFill>
                  <a:srgbClr val="FFFFFF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Danish Khan Junior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212" y="-86410"/>
            <a:ext cx="14721568" cy="1544409"/>
            <a:chOff x="0" y="0"/>
            <a:chExt cx="10819003" cy="1134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006" cy="900048"/>
            </a:xfrm>
            <a:custGeom>
              <a:avLst/>
              <a:gdLst/>
              <a:ahLst/>
              <a:cxnLst/>
              <a:rect r="r" b="b" t="t" l="l"/>
              <a:pathLst>
                <a:path h="900048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900048"/>
                  </a:lnTo>
                  <a:lnTo>
                    <a:pt x="0" y="900048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963548"/>
              <a:ext cx="10692006" cy="107950"/>
            </a:xfrm>
            <a:custGeom>
              <a:avLst/>
              <a:gdLst/>
              <a:ahLst/>
              <a:cxnLst/>
              <a:rect r="r" b="b" t="t" l="l"/>
              <a:pathLst>
                <a:path h="107950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107950"/>
                  </a:lnTo>
                  <a:lnTo>
                    <a:pt x="0" y="107950"/>
                  </a:lnTo>
                  <a:close/>
                </a:path>
              </a:pathLst>
            </a:custGeom>
            <a:solidFill>
              <a:srgbClr val="F1C40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604408" y="98770"/>
            <a:ext cx="4468561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Business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04408" y="2476094"/>
            <a:ext cx="12141227" cy="111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</a:pPr>
            <a:r>
              <a:rPr lang="en-US" sz="2993">
                <a:solidFill>
                  <a:srgbClr val="1A2A3A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Primary Question: How do annual members and casual riders use Cyclistic bikes differently?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4408" y="4386202"/>
            <a:ext cx="12610266" cy="278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Goal: Identify behavioral patterns to design targeted marketing strategies to convert casual users into profitable annual members.</a:t>
            </a:r>
          </a:p>
          <a:p>
            <a:pPr algn="l" rtl="true">
              <a:lnSpc>
                <a:spcPts val="3265"/>
              </a:lnSpc>
            </a:pPr>
          </a:p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Scope: Analysis of over 3.7 million historical rides (Nov 2024 - Oct 2025).</a:t>
            </a:r>
          </a:p>
          <a:p>
            <a:pPr algn="l" rtl="true">
              <a:lnSpc>
                <a:spcPts val="3265"/>
              </a:lnSpc>
            </a:pPr>
          </a:p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Data Integrity: All data rigorously cleaned and validated. No Personally Identifiable Information (PII) was used, ensuring complete user privacy.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212" y="-86410"/>
            <a:ext cx="14721568" cy="1544409"/>
            <a:chOff x="0" y="0"/>
            <a:chExt cx="10819003" cy="1134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006" cy="900048"/>
            </a:xfrm>
            <a:custGeom>
              <a:avLst/>
              <a:gdLst/>
              <a:ahLst/>
              <a:cxnLst/>
              <a:rect r="r" b="b" t="t" l="l"/>
              <a:pathLst>
                <a:path h="900048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900048"/>
                  </a:lnTo>
                  <a:lnTo>
                    <a:pt x="0" y="900048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963548"/>
              <a:ext cx="10692006" cy="107950"/>
            </a:xfrm>
            <a:custGeom>
              <a:avLst/>
              <a:gdLst/>
              <a:ahLst/>
              <a:cxnLst/>
              <a:rect r="r" b="b" t="t" l="l"/>
              <a:pathLst>
                <a:path h="107950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107950"/>
                  </a:lnTo>
                  <a:lnTo>
                    <a:pt x="0" y="107950"/>
                  </a:lnTo>
                  <a:close/>
                </a:path>
              </a:pathLst>
            </a:custGeom>
            <a:solidFill>
              <a:srgbClr val="F1C40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317313" y="1873018"/>
            <a:ext cx="8072366" cy="6618719"/>
          </a:xfrm>
          <a:custGeom>
            <a:avLst/>
            <a:gdLst/>
            <a:ahLst/>
            <a:cxnLst/>
            <a:rect r="r" b="b" t="t" l="l"/>
            <a:pathLst>
              <a:path h="6618719" w="8072366">
                <a:moveTo>
                  <a:pt x="0" y="0"/>
                </a:moveTo>
                <a:lnTo>
                  <a:pt x="8072366" y="0"/>
                </a:lnTo>
                <a:lnTo>
                  <a:pt x="8072366" y="6618719"/>
                </a:lnTo>
                <a:lnTo>
                  <a:pt x="0" y="661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147" t="0" r="-4080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4408" y="98770"/>
            <a:ext cx="8896782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Overall Ridership: The Conversion Opportunity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4408" y="3072977"/>
            <a:ext cx="4953243" cy="114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3"/>
              </a:lnSpc>
            </a:pPr>
            <a:r>
              <a:rPr lang="en-US" sz="3809">
                <a:solidFill>
                  <a:srgbClr val="1A2A3A"/>
                </a:solidFill>
                <a:latin typeface="Canva Sans"/>
                <a:ea typeface="Canva Sans"/>
                <a:cs typeface="Canva Sans"/>
                <a:sym typeface="Canva Sans"/>
              </a:rPr>
              <a:t>3,738,787 Total Rides</a:t>
            </a:r>
          </a:p>
          <a:p>
            <a:pPr algn="l">
              <a:lnSpc>
                <a:spcPts val="3810"/>
              </a:lnSpc>
            </a:pPr>
            <a:r>
              <a:rPr lang="en-US" sz="2721">
                <a:solidFill>
                  <a:srgbClr val="2980B9"/>
                </a:solidFill>
                <a:latin typeface="Canva Sans"/>
                <a:ea typeface="Canva Sans"/>
                <a:cs typeface="Canva Sans"/>
                <a:sym typeface="Canva Sans"/>
              </a:rPr>
              <a:t>64.2% Annual Members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04408" y="5842673"/>
            <a:ext cx="3334815" cy="46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721">
                <a:solidFill>
                  <a:srgbClr val="E67E22"/>
                </a:solidFill>
                <a:latin typeface="Canva Sans"/>
                <a:ea typeface="Canva Sans"/>
                <a:cs typeface="Canva Sans"/>
                <a:sym typeface="Canva Sans"/>
              </a:rPr>
              <a:t>35.8% Casual Riders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22794" y="6487859"/>
            <a:ext cx="59296" cy="32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1905">
                <a:solidFill>
                  <a:srgbClr val="555555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22794" y="4961141"/>
            <a:ext cx="59296" cy="32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1905">
                <a:solidFill>
                  <a:srgbClr val="555555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04408" y="6487859"/>
            <a:ext cx="3437205" cy="32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1905">
                <a:solidFill>
                  <a:srgbClr val="555555"/>
                </a:solidFill>
                <a:latin typeface="Canva Sans"/>
                <a:ea typeface="Canva Sans"/>
                <a:cs typeface="Canva Sans"/>
                <a:sym typeface="Canva Sans"/>
              </a:rPr>
              <a:t>(1.3MRides - TheOpportunity)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04408" y="4961141"/>
            <a:ext cx="3304033" cy="32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1905">
                <a:solidFill>
                  <a:srgbClr val="555555"/>
                </a:solidFill>
                <a:latin typeface="Canva Sans"/>
                <a:ea typeface="Canva Sans"/>
                <a:cs typeface="Canva Sans"/>
                <a:sym typeface="Canva Sans"/>
              </a:rPr>
              <a:t>(2.4MRides - TheStableCore)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9621" y="0"/>
            <a:ext cx="14721568" cy="1544409"/>
            <a:chOff x="0" y="0"/>
            <a:chExt cx="10819003" cy="1134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006" cy="900048"/>
            </a:xfrm>
            <a:custGeom>
              <a:avLst/>
              <a:gdLst/>
              <a:ahLst/>
              <a:cxnLst/>
              <a:rect r="r" b="b" t="t" l="l"/>
              <a:pathLst>
                <a:path h="900048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900048"/>
                  </a:lnTo>
                  <a:lnTo>
                    <a:pt x="0" y="900048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963548"/>
              <a:ext cx="10692006" cy="107950"/>
            </a:xfrm>
            <a:custGeom>
              <a:avLst/>
              <a:gdLst/>
              <a:ahLst/>
              <a:cxnLst/>
              <a:rect r="r" b="b" t="t" l="l"/>
              <a:pathLst>
                <a:path h="107950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107950"/>
                  </a:lnTo>
                  <a:lnTo>
                    <a:pt x="0" y="107950"/>
                  </a:lnTo>
                  <a:close/>
                </a:path>
              </a:pathLst>
            </a:custGeom>
            <a:solidFill>
              <a:srgbClr val="F1C40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416573" y="1873018"/>
            <a:ext cx="7973105" cy="6618719"/>
          </a:xfrm>
          <a:custGeom>
            <a:avLst/>
            <a:gdLst/>
            <a:ahLst/>
            <a:cxnLst/>
            <a:rect r="r" b="b" t="t" l="l"/>
            <a:pathLst>
              <a:path h="6618719" w="7973105">
                <a:moveTo>
                  <a:pt x="0" y="0"/>
                </a:moveTo>
                <a:lnTo>
                  <a:pt x="7973106" y="0"/>
                </a:lnTo>
                <a:lnTo>
                  <a:pt x="7973106" y="6618719"/>
                </a:lnTo>
                <a:lnTo>
                  <a:pt x="0" y="661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68" r="-1444" b="-107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4408" y="98770"/>
            <a:ext cx="7630997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Ride Duration: Efficiency vs. Exploration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4408" y="2130685"/>
            <a:ext cx="4495507" cy="47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Key Finding: Casual riders take trips that are nearly twice as long as members (82% longer on average).</a:t>
            </a:r>
          </a:p>
          <a:p>
            <a:pPr algn="l" rtl="true">
              <a:lnSpc>
                <a:spcPts val="3265"/>
              </a:lnSpc>
            </a:pPr>
          </a:p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Members (12.2 mins): Focused, point-to-point utility and commuting.</a:t>
            </a:r>
          </a:p>
          <a:p>
            <a:pPr algn="l" rtl="true">
              <a:lnSpc>
                <a:spcPts val="3265"/>
              </a:lnSpc>
            </a:pPr>
          </a:p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Casuals (22.2 mins): Leisure, sightseeing, and recreational exploration.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212" y="-86410"/>
            <a:ext cx="14721568" cy="1544409"/>
            <a:chOff x="0" y="0"/>
            <a:chExt cx="10819003" cy="1134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006" cy="900048"/>
            </a:xfrm>
            <a:custGeom>
              <a:avLst/>
              <a:gdLst/>
              <a:ahLst/>
              <a:cxnLst/>
              <a:rect r="r" b="b" t="t" l="l"/>
              <a:pathLst>
                <a:path h="900048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900048"/>
                  </a:lnTo>
                  <a:lnTo>
                    <a:pt x="0" y="900048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963548"/>
              <a:ext cx="10692006" cy="107950"/>
            </a:xfrm>
            <a:custGeom>
              <a:avLst/>
              <a:gdLst/>
              <a:ahLst/>
              <a:cxnLst/>
              <a:rect r="r" b="b" t="t" l="l"/>
              <a:pathLst>
                <a:path h="107950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107950"/>
                  </a:lnTo>
                  <a:lnTo>
                    <a:pt x="0" y="107950"/>
                  </a:lnTo>
                  <a:close/>
                </a:path>
              </a:pathLst>
            </a:custGeom>
            <a:solidFill>
              <a:srgbClr val="F1C40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092566" y="2155477"/>
            <a:ext cx="9412213" cy="5976047"/>
          </a:xfrm>
          <a:custGeom>
            <a:avLst/>
            <a:gdLst/>
            <a:ahLst/>
            <a:cxnLst/>
            <a:rect r="r" b="b" t="t" l="l"/>
            <a:pathLst>
              <a:path h="5976047" w="9412213">
                <a:moveTo>
                  <a:pt x="0" y="0"/>
                </a:moveTo>
                <a:lnTo>
                  <a:pt x="9412213" y="0"/>
                </a:lnTo>
                <a:lnTo>
                  <a:pt x="9412213" y="5976046"/>
                </a:lnTo>
                <a:lnTo>
                  <a:pt x="0" y="5976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95" t="0" r="-711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4408" y="98770"/>
            <a:ext cx="9778926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Day of Week Patterns: Commuters vs. Weekenders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4408" y="2130685"/>
            <a:ext cx="4488158" cy="318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Members: Dominate the work week (Monday-Friday), peaking mid- week.</a:t>
            </a:r>
          </a:p>
          <a:p>
            <a:pPr algn="l" rtl="true">
              <a:lnSpc>
                <a:spcPts val="3265"/>
              </a:lnSpc>
            </a:pPr>
          </a:p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Casuals: Experience a massive surge on weekends. Over 33% of</a:t>
            </a:r>
          </a:p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all casual rides happen on Saturday or Sunday.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212" y="-86410"/>
            <a:ext cx="14721568" cy="1544409"/>
            <a:chOff x="0" y="0"/>
            <a:chExt cx="10819003" cy="1134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006" cy="900048"/>
            </a:xfrm>
            <a:custGeom>
              <a:avLst/>
              <a:gdLst/>
              <a:ahLst/>
              <a:cxnLst/>
              <a:rect r="r" b="b" t="t" l="l"/>
              <a:pathLst>
                <a:path h="900048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900048"/>
                  </a:lnTo>
                  <a:lnTo>
                    <a:pt x="0" y="900048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963548"/>
              <a:ext cx="10692006" cy="107950"/>
            </a:xfrm>
            <a:custGeom>
              <a:avLst/>
              <a:gdLst/>
              <a:ahLst/>
              <a:cxnLst/>
              <a:rect r="r" b="b" t="t" l="l"/>
              <a:pathLst>
                <a:path h="107950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107950"/>
                  </a:lnTo>
                  <a:lnTo>
                    <a:pt x="0" y="107950"/>
                  </a:lnTo>
                  <a:close/>
                </a:path>
              </a:pathLst>
            </a:custGeom>
            <a:solidFill>
              <a:srgbClr val="F1C40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907862" y="1873018"/>
            <a:ext cx="9942511" cy="5141497"/>
          </a:xfrm>
          <a:custGeom>
            <a:avLst/>
            <a:gdLst/>
            <a:ahLst/>
            <a:cxnLst/>
            <a:rect r="r" b="b" t="t" l="l"/>
            <a:pathLst>
              <a:path h="5141497" w="9942511">
                <a:moveTo>
                  <a:pt x="0" y="0"/>
                </a:moveTo>
                <a:lnTo>
                  <a:pt x="9942511" y="0"/>
                </a:lnTo>
                <a:lnTo>
                  <a:pt x="9942511" y="5141496"/>
                </a:lnTo>
                <a:lnTo>
                  <a:pt x="0" y="5141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2" t="0" r="-9802" b="-91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4408" y="98770"/>
            <a:ext cx="6996404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Seasonal Trends: The Summer Spike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4408" y="2130685"/>
            <a:ext cx="4303453" cy="359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The Winter Baseline: Members maintain steady usage year-round. Casual usage drops to ~17% of total rides.</a:t>
            </a:r>
          </a:p>
          <a:p>
            <a:pPr algn="l" rtl="true">
              <a:lnSpc>
                <a:spcPts val="3265"/>
              </a:lnSpc>
            </a:pPr>
          </a:p>
          <a:p>
            <a:pPr algn="l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The Summer Explosion: Casual ridership peaks dramatically in June, July, and August (reaching 43% of total volume).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212" y="-86410"/>
            <a:ext cx="14721568" cy="1544409"/>
            <a:chOff x="0" y="0"/>
            <a:chExt cx="10819003" cy="1134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006" cy="900048"/>
            </a:xfrm>
            <a:custGeom>
              <a:avLst/>
              <a:gdLst/>
              <a:ahLst/>
              <a:cxnLst/>
              <a:rect r="r" b="b" t="t" l="l"/>
              <a:pathLst>
                <a:path h="900048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900048"/>
                  </a:lnTo>
                  <a:lnTo>
                    <a:pt x="0" y="900048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963548"/>
              <a:ext cx="10692006" cy="107950"/>
            </a:xfrm>
            <a:custGeom>
              <a:avLst/>
              <a:gdLst/>
              <a:ahLst/>
              <a:cxnLst/>
              <a:rect r="r" b="b" t="t" l="l"/>
              <a:pathLst>
                <a:path h="107950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107950"/>
                  </a:lnTo>
                  <a:lnTo>
                    <a:pt x="0" y="107950"/>
                  </a:lnTo>
                  <a:close/>
                </a:path>
              </a:pathLst>
            </a:custGeom>
            <a:solidFill>
              <a:srgbClr val="F1C40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265168" y="1948679"/>
            <a:ext cx="9015340" cy="4088588"/>
          </a:xfrm>
          <a:custGeom>
            <a:avLst/>
            <a:gdLst/>
            <a:ahLst/>
            <a:cxnLst/>
            <a:rect r="r" b="b" t="t" l="l"/>
            <a:pathLst>
              <a:path h="4088588" w="9015340">
                <a:moveTo>
                  <a:pt x="0" y="0"/>
                </a:moveTo>
                <a:lnTo>
                  <a:pt x="9015340" y="0"/>
                </a:lnTo>
                <a:lnTo>
                  <a:pt x="9015340" y="4088588"/>
                </a:lnTo>
                <a:lnTo>
                  <a:pt x="0" y="4088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" t="-590" r="-898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4408" y="98770"/>
            <a:ext cx="8724727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Geographic Preferences: Business vs. Leisure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4408" y="2130685"/>
            <a:ext cx="4314729" cy="359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Member Hubs: Centered around business districts and transit stations (e.g., Kingsbury St).</a:t>
            </a:r>
          </a:p>
          <a:p>
            <a:pPr algn="just" rtl="true">
              <a:lnSpc>
                <a:spcPts val="3265"/>
              </a:lnSpc>
            </a:pPr>
          </a:p>
          <a:p>
            <a:pPr algn="just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Casual Hotspots: Heavily clustered around tourist attractions and the lakefront (e.g., DuSable Lake Shore Dr, Navy Pier).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212" y="-86410"/>
            <a:ext cx="14721568" cy="1544409"/>
            <a:chOff x="0" y="0"/>
            <a:chExt cx="10819003" cy="1134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006" cy="900048"/>
            </a:xfrm>
            <a:custGeom>
              <a:avLst/>
              <a:gdLst/>
              <a:ahLst/>
              <a:cxnLst/>
              <a:rect r="r" b="b" t="t" l="l"/>
              <a:pathLst>
                <a:path h="900048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900048"/>
                  </a:lnTo>
                  <a:lnTo>
                    <a:pt x="0" y="900048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963548"/>
              <a:ext cx="10692006" cy="107950"/>
            </a:xfrm>
            <a:custGeom>
              <a:avLst/>
              <a:gdLst/>
              <a:ahLst/>
              <a:cxnLst/>
              <a:rect r="r" b="b" t="t" l="l"/>
              <a:pathLst>
                <a:path h="107950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107950"/>
                  </a:lnTo>
                  <a:lnTo>
                    <a:pt x="0" y="107950"/>
                  </a:lnTo>
                  <a:close/>
                </a:path>
              </a:pathLst>
            </a:custGeom>
            <a:solidFill>
              <a:srgbClr val="F1C40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416573" y="1873018"/>
            <a:ext cx="8088293" cy="6618719"/>
          </a:xfrm>
          <a:custGeom>
            <a:avLst/>
            <a:gdLst/>
            <a:ahLst/>
            <a:cxnLst/>
            <a:rect r="r" b="b" t="t" l="l"/>
            <a:pathLst>
              <a:path h="6618719" w="8088293">
                <a:moveTo>
                  <a:pt x="0" y="0"/>
                </a:moveTo>
                <a:lnTo>
                  <a:pt x="8088293" y="0"/>
                </a:lnTo>
                <a:lnTo>
                  <a:pt x="8088293" y="6618719"/>
                </a:lnTo>
                <a:lnTo>
                  <a:pt x="0" y="661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0" t="0" r="-126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04408" y="98770"/>
            <a:ext cx="4337495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Bike Type Preferences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4408" y="2130685"/>
            <a:ext cx="4492072" cy="399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Classic Bikes (53.5%): Remain the dominant choice overall, particularly favored by Members for routine commutes.</a:t>
            </a:r>
          </a:p>
          <a:p>
            <a:pPr algn="just" rtl="true">
              <a:lnSpc>
                <a:spcPts val="3265"/>
              </a:lnSpc>
            </a:pPr>
          </a:p>
          <a:p>
            <a:pPr algn="just">
              <a:lnSpc>
                <a:spcPts val="3265"/>
              </a:lnSpc>
            </a:pPr>
            <a:r>
              <a:rPr lang="en-US" sz="2177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Electric Bikes (46.5%): Seeing strong adoption from both groups, but Casual riders show a slightly more balanced preference.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212" y="-86410"/>
            <a:ext cx="14721568" cy="1544409"/>
            <a:chOff x="0" y="0"/>
            <a:chExt cx="10819003" cy="1134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006" cy="900048"/>
            </a:xfrm>
            <a:custGeom>
              <a:avLst/>
              <a:gdLst/>
              <a:ahLst/>
              <a:cxnLst/>
              <a:rect r="r" b="b" t="t" l="l"/>
              <a:pathLst>
                <a:path h="900048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900048"/>
                  </a:lnTo>
                  <a:lnTo>
                    <a:pt x="0" y="900048"/>
                  </a:lnTo>
                  <a:close/>
                </a:path>
              </a:pathLst>
            </a:custGeom>
            <a:solidFill>
              <a:srgbClr val="1A2A3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963548"/>
              <a:ext cx="10692006" cy="107950"/>
            </a:xfrm>
            <a:custGeom>
              <a:avLst/>
              <a:gdLst/>
              <a:ahLst/>
              <a:cxnLst/>
              <a:rect r="r" b="b" t="t" l="l"/>
              <a:pathLst>
                <a:path h="107950" w="10692006">
                  <a:moveTo>
                    <a:pt x="0" y="0"/>
                  </a:moveTo>
                  <a:lnTo>
                    <a:pt x="10692006" y="0"/>
                  </a:lnTo>
                  <a:lnTo>
                    <a:pt x="10692006" y="107950"/>
                  </a:lnTo>
                  <a:lnTo>
                    <a:pt x="0" y="107950"/>
                  </a:lnTo>
                  <a:close/>
                </a:path>
              </a:pathLst>
            </a:custGeom>
            <a:solidFill>
              <a:srgbClr val="F1C40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517999" y="1873018"/>
            <a:ext cx="12909103" cy="2252665"/>
          </a:xfrm>
          <a:custGeom>
            <a:avLst/>
            <a:gdLst/>
            <a:ahLst/>
            <a:cxnLst/>
            <a:rect r="r" b="b" t="t" l="l"/>
            <a:pathLst>
              <a:path h="2252665" w="12909103">
                <a:moveTo>
                  <a:pt x="0" y="0"/>
                </a:moveTo>
                <a:lnTo>
                  <a:pt x="12909103" y="0"/>
                </a:lnTo>
                <a:lnTo>
                  <a:pt x="12909103" y="2252665"/>
                </a:lnTo>
                <a:lnTo>
                  <a:pt x="0" y="22526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17999" y="4197810"/>
            <a:ext cx="12909103" cy="2252665"/>
          </a:xfrm>
          <a:custGeom>
            <a:avLst/>
            <a:gdLst/>
            <a:ahLst/>
            <a:cxnLst/>
            <a:rect r="r" b="b" t="t" l="l"/>
            <a:pathLst>
              <a:path h="2252665" w="12909103">
                <a:moveTo>
                  <a:pt x="0" y="0"/>
                </a:moveTo>
                <a:lnTo>
                  <a:pt x="12909103" y="0"/>
                </a:lnTo>
                <a:lnTo>
                  <a:pt x="12909103" y="2252665"/>
                </a:lnTo>
                <a:lnTo>
                  <a:pt x="0" y="22526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17999" y="6522589"/>
            <a:ext cx="12909103" cy="2252665"/>
          </a:xfrm>
          <a:custGeom>
            <a:avLst/>
            <a:gdLst/>
            <a:ahLst/>
            <a:cxnLst/>
            <a:rect r="r" b="b" t="t" l="l"/>
            <a:pathLst>
              <a:path h="2252665" w="12909103">
                <a:moveTo>
                  <a:pt x="0" y="0"/>
                </a:moveTo>
                <a:lnTo>
                  <a:pt x="12909103" y="0"/>
                </a:lnTo>
                <a:lnTo>
                  <a:pt x="12909103" y="2252666"/>
                </a:lnTo>
                <a:lnTo>
                  <a:pt x="0" y="2252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04408" y="98770"/>
            <a:ext cx="5498297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Strategic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99978" y="2294624"/>
            <a:ext cx="4917005" cy="40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1A2A3A"/>
                </a:solidFill>
                <a:latin typeface="Canva Sans"/>
                <a:ea typeface="Canva Sans"/>
                <a:cs typeface="Canva Sans"/>
                <a:sym typeface="Canva Sans"/>
              </a:rPr>
              <a:t>1. Target the "Weekend Explorer"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03029" y="2771713"/>
            <a:ext cx="63670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9978" y="4619417"/>
            <a:ext cx="6374285" cy="40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1A2A3A"/>
                </a:solidFill>
                <a:latin typeface="Canva Sans"/>
                <a:ea typeface="Canva Sans"/>
                <a:cs typeface="Canva Sans"/>
                <a:sym typeface="Canva Sans"/>
              </a:rPr>
              <a:t>2. Launch a Summer Conversion Campaign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04929" y="5096492"/>
            <a:ext cx="63670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99978" y="6944196"/>
            <a:ext cx="6513776" cy="40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1A2A3A"/>
                </a:solidFill>
                <a:latin typeface="Canva Sans"/>
                <a:ea typeface="Canva Sans"/>
                <a:cs typeface="Canva Sans"/>
                <a:sym typeface="Canva Sans"/>
              </a:rPr>
              <a:t>3. Emphasize "Duration Value" in Messaging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18636" y="7421271"/>
            <a:ext cx="63670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99978" y="5096492"/>
            <a:ext cx="12320054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Concentrate the marketing budget on the June-August window. Deploy geo-fenced mobile ads and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99978" y="5511238"/>
            <a:ext cx="10043003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physical signage at top casual stations like Navy Pier and DuSable Lake Shore Dr.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99978" y="2771713"/>
            <a:ext cx="12814208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Casual usage spikes on Saturdays and Sundays. Introduce a targeted "Weekend-to-Annual" upgrade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99978" y="3186458"/>
            <a:ext cx="5584486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promotion directly targeting weekend riders.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99978" y="7421271"/>
            <a:ext cx="12297049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Casual trips average 22 minutes (82% longer than members). Marketing should emphasize the cost-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99978" y="7836017"/>
            <a:ext cx="10870388" cy="35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savings of an annual membership for long, leisurely rides to overcome price objections.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41182" y="3548800"/>
            <a:ext cx="3832834" cy="106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6259">
                <a:solidFill>
                  <a:srgbClr val="1A2A3A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86504" y="4763570"/>
            <a:ext cx="61078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92499" y="4763570"/>
            <a:ext cx="8391958" cy="55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>
                <a:solidFill>
                  <a:srgbClr val="333333"/>
                </a:solidFill>
                <a:latin typeface="Canva Sans"/>
                <a:ea typeface="Canva Sans"/>
                <a:cs typeface="Canva Sans"/>
                <a:sym typeface="Canva Sans"/>
              </a:rPr>
              <a:t>Data-DrivenDecisionsforCyclistic's Future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94129" y="6229421"/>
            <a:ext cx="4492862" cy="35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7">
                <a:solidFill>
                  <a:srgbClr val="555555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Danish Khan | Junior Data 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DAHHiEwIp7g</dc:identifier>
  <dcterms:modified xsi:type="dcterms:W3CDTF">2011-08-01T06:04:30Z</dcterms:modified>
  <cp:revision>1</cp:revision>
  <dc:title>Key Finding: Casual riders take trips that are nearly twice as long as members (82% longer on average). Members (12.8 mins): Focused, point-to-point utility and commuting. Casuals (22.2 mins): Leisure, sightseeing, and recreational exploration.</dc:title>
</cp:coreProperties>
</file>